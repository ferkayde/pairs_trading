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FFFFFF"/>
                </a:solidFill>
                <a:latin typeface="Calibri"/>
              </a:rPr>
              <a:t>Can We Improve It? Four Experiments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25880"/>
            <a:ext cx="1463040" cy="50800"/>
          </a:xfrm>
          <a:prstGeom prst="rect">
            <a:avLst/>
          </a:prstGeom>
          <a:solidFill>
            <a:srgbClr val="2EA6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406640" y="1828800"/>
            <a:ext cx="4206240" cy="384048"/>
          </a:xfrm>
          <a:prstGeom prst="roundRect">
            <a:avLst/>
          </a:prstGeom>
          <a:solidFill>
            <a:srgbClr val="1F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Idea 1 — TCMB shock filter   ✓ works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06640" y="2468880"/>
            <a:ext cx="4206240" cy="384048"/>
          </a:xfrm>
          <a:prstGeom prst="roundRect">
            <a:avLst/>
          </a:prstGeom>
          <a:solidFill>
            <a:srgbClr val="1F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Idea 5 — 3σ stop-loss   ✓✓ strongest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06640" y="3108960"/>
            <a:ext cx="4206240" cy="384048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Idea 2 — Real (CPI) prices   ✗ fails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749039"/>
            <a:ext cx="4206240" cy="384048"/>
          </a:xfrm>
          <a:prstGeom prst="round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Idea 3 — Cross-listing   ⚠ cautionary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286000"/>
            <a:ext cx="640080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>
                <a:solidFill>
                  <a:srgbClr val="2EA6A0"/>
                </a:solidFill>
                <a:latin typeface="Calibri"/>
              </a:rPr>
              <a:t>• </a:t>
            </a:r>
            <a:r>
              <a:rPr sz="1500" b="0">
                <a:solidFill>
                  <a:srgbClr val="FFFFFF"/>
                </a:solidFill>
                <a:latin typeface="Calibri"/>
              </a:rPr>
              <a:t>So any delta is the idea, not the engine.</a:t>
            </a:r>
          </a:p>
          <a:p>
            <a:pPr algn="l">
              <a:spcAft>
                <a:spcPts val="1000"/>
              </a:spcAft>
            </a:pPr>
            <a:r>
              <a:rPr sz="1500" b="1">
                <a:solidFill>
                  <a:srgbClr val="2EA6A0"/>
                </a:solidFill>
                <a:latin typeface="Calibri"/>
              </a:rPr>
              <a:t>• </a:t>
            </a:r>
            <a:r>
              <a:rPr sz="1500" b="0">
                <a:solidFill>
                  <a:srgbClr val="FFFFFF"/>
                </a:solidFill>
                <a:latin typeface="Calibri"/>
              </a:rPr>
              <a:t>All on the full 560-ticker universe, committed capital,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555555"/>
                </a:solidFill>
                <a:latin typeface="Calibri"/>
              </a:rPr>
              <a:t>   real TÜİK CPI + real TCMB policy-rate history.</a:t>
            </a:r>
          </a:p>
          <a:p>
            <a:pPr algn="l">
              <a:spcAft>
                <a:spcPts val="1000"/>
              </a:spcAft>
            </a:pPr>
            <a:r>
              <a:rPr sz="1500" b="1">
                <a:solidFill>
                  <a:srgbClr val="2EA6A0"/>
                </a:solidFill>
                <a:latin typeface="Calibri"/>
              </a:rPr>
              <a:t>• </a:t>
            </a:r>
            <a:r>
              <a:rPr sz="1500" b="0">
                <a:solidFill>
                  <a:srgbClr val="FFFFFF"/>
                </a:solidFill>
                <a:latin typeface="Calibri"/>
              </a:rPr>
              <a:t>Baseline here: Sharpe −0.39 (stricter full-universe cut).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A1A1A"/>
                </a:solidFill>
                <a:latin typeface="Calibri"/>
              </a:rPr>
              <a:t>Idea 1 — TCMB Policy-Shock Filter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78992"/>
            <a:ext cx="1371600" cy="50800"/>
          </a:xfrm>
          <a:prstGeom prst="rect">
            <a:avLst/>
          </a:prstGeom>
          <a:solidFill>
            <a:srgbClr val="2EA6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hock_window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4480"/>
            <a:ext cx="6492240" cy="295101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178040" y="1325880"/>
            <a:ext cx="461772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450" b="1">
                <a:solidFill>
                  <a:srgbClr val="1F7A6E"/>
                </a:solidFill>
                <a:latin typeface="Calibri"/>
              </a:rPr>
              <a:t>Concept</a:t>
            </a:r>
          </a:p>
          <a:p>
            <a:pPr algn="l">
              <a:spcAft>
                <a:spcPts val="900"/>
              </a:spcAft>
            </a:pPr>
            <a:r>
              <a:rPr sz="1250" b="1">
                <a:solidFill>
                  <a:srgbClr val="2EA6A0"/>
                </a:solidFill>
                <a:latin typeface="Calibri"/>
              </a:rPr>
              <a:t>•  </a:t>
            </a:r>
            <a:r>
              <a:rPr sz="1250" b="0">
                <a:solidFill>
                  <a:srgbClr val="1A1A1A"/>
                </a:solidFill>
                <a:latin typeface="Calibri"/>
              </a:rPr>
              <a:t>GGR assumes the spread mean-reverts. That breaks during macro shocks: both legs gap the same way, the spread diverges and never reverts inside the 6-month window.</a:t>
            </a:r>
          </a:p>
          <a:p>
            <a:pPr algn="l">
              <a:spcAft>
                <a:spcPts val="900"/>
              </a:spcAft>
            </a:pPr>
            <a:r>
              <a:rPr sz="1250" b="1">
                <a:solidFill>
                  <a:srgbClr val="2EA6A0"/>
                </a:solidFill>
                <a:latin typeface="Calibri"/>
              </a:rPr>
              <a:t>•  </a:t>
            </a:r>
            <a:r>
              <a:rPr sz="1250" b="0">
                <a:solidFill>
                  <a:srgbClr val="1A1A1A"/>
                </a:solidFill>
                <a:latin typeface="Calibri"/>
              </a:rPr>
              <a:t>Fix: block NEW entries for a few days after a shock — a TCMB rate surprise, a &gt;3% USD/TRY day, or an unusually high CPI print. Positions already open are left to exit normally.</a:t>
            </a:r>
          </a:p>
          <a:p>
            <a:pPr algn="l">
              <a:spcAft>
                <a:spcPts val="900"/>
              </a:spcAft>
            </a:pPr>
            <a:r>
              <a:rPr sz="1250" b="1">
                <a:solidFill>
                  <a:srgbClr val="2EA6A0"/>
                </a:solidFill>
                <a:latin typeface="Calibri"/>
              </a:rPr>
              <a:t>•  </a:t>
            </a:r>
            <a:r>
              <a:rPr sz="1250" b="0">
                <a:solidFill>
                  <a:srgbClr val="1A1A1A"/>
                </a:solidFill>
                <a:latin typeface="Calibri"/>
              </a:rPr>
              <a:t>Real data: TCMB rate history, the Survey of Market Participants (consensus), USD/TRY and TÜİK CPI. 8.2% of trading days end up blocked.</a:t>
            </a:r>
          </a:p>
          <a:p>
            <a:pPr algn="l">
              <a:spcAft>
                <a:spcPts val="900"/>
              </a:spcAft>
            </a:pPr>
            <a:r>
              <a:rPr sz="1250" b="1">
                <a:solidFill>
                  <a:srgbClr val="2EA6A0"/>
                </a:solidFill>
                <a:latin typeface="Calibri"/>
              </a:rPr>
              <a:t>•  </a:t>
            </a:r>
            <a:r>
              <a:rPr sz="1250" b="0">
                <a:solidFill>
                  <a:srgbClr val="1A1A1A"/>
                </a:solidFill>
                <a:latin typeface="Calibri"/>
              </a:rPr>
              <a:t>Result: Sharpe −0.39 → −0.37,  Max DD 69% → 67.6%,  −147 trades.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78040" y="5257800"/>
            <a:ext cx="46177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1F7A6E"/>
                </a:solidFill>
                <a:latin typeface="Calibri"/>
              </a:rPr>
              <a:t>Max DD  −1.6 pts</a:t>
            </a:r>
          </a:p>
          <a:p>
            <a:pPr algn="ctr">
              <a:spcAft>
                <a:spcPts val="600"/>
              </a:spcAft>
            </a:pPr>
            <a:r>
              <a:rPr sz="1400" b="0">
                <a:solidFill>
                  <a:srgbClr val="555555"/>
                </a:solidFill>
                <a:latin typeface="Calibri"/>
              </a:rPr>
              <a:t>Robust: cuts tail risk, returns intact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A1A1A"/>
                </a:solidFill>
                <a:latin typeface="Calibri"/>
              </a:rPr>
              <a:t>Idea 1 — Defining a “Shock” Rigorously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78992"/>
            <a:ext cx="1371600" cy="50800"/>
          </a:xfrm>
          <a:prstGeom prst="rect">
            <a:avLst/>
          </a:prstGeom>
          <a:solidFill>
            <a:srgbClr val="2EA6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3931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500" b="1">
                <a:solidFill>
                  <a:srgbClr val="2EA6A0"/>
                </a:solidFill>
                <a:latin typeface="Calibri"/>
              </a:rPr>
              <a:t>•  </a:t>
            </a:r>
            <a:r>
              <a:rPr sz="1500" b="0">
                <a:solidFill>
                  <a:srgbClr val="1A1A1A"/>
                </a:solidFill>
                <a:latin typeface="Calibri"/>
              </a:rPr>
              <a:t>A surprise is not a big move — it is a move the market did not expect. We use the TCMB Survey of Market Participants consensus: surprise = actual decision − consensus expectation (&gt; 50 bp). No look-ahead — the consensus is published before the meeting.</a:t>
            </a:r>
          </a:p>
          <a:p>
            <a:pPr algn="l">
              <a:spcAft>
                <a:spcPts val="900"/>
              </a:spcAft>
            </a:pPr>
            <a:r>
              <a:rPr sz="1500" b="1">
                <a:solidFill>
                  <a:srgbClr val="2EA6A0"/>
                </a:solidFill>
                <a:latin typeface="Calibri"/>
              </a:rPr>
              <a:t>•  </a:t>
            </a:r>
            <a:r>
              <a:rPr sz="1500" b="0">
                <a:solidFill>
                  <a:srgbClr val="1A1A1A"/>
                </a:solidFill>
                <a:latin typeface="Calibri"/>
              </a:rPr>
              <a:t>We also fixed the CPI trigger. A fixed “MoM &gt; 2%” fires almost every month in 2022-23 (monthly inflation was 3-7%), so it just switches the strategy off in bad years. We made it RELATIVE — flag only prints unusually high versus the trailing-12-month trend.</a:t>
            </a:r>
          </a:p>
          <a:p>
            <a:pPr algn="l">
              <a:spcAft>
                <a:spcPts val="900"/>
              </a:spcAft>
            </a:pPr>
            <a:r>
              <a:rPr sz="1500" b="1">
                <a:solidFill>
                  <a:srgbClr val="2EA6A0"/>
                </a:solidFill>
                <a:latin typeface="Calibri"/>
              </a:rPr>
              <a:t>•  </a:t>
            </a:r>
            <a:r>
              <a:rPr sz="1500" b="0">
                <a:solidFill>
                  <a:srgbClr val="1A1A1A"/>
                </a:solidFill>
                <a:latin typeface="Calibri"/>
              </a:rPr>
              <a:t>The more rigorously we define a shock, the smaller the measured benefit — the crude proxy was over-blocking:  +0.037 → +0.029 → +0.017 Sharpe. The genuine, defensible benefit is modest and concentrated in drawdown.</a:t>
            </a:r>
          </a:p>
          <a:p>
            <a:pPr algn="l">
              <a:spcAft>
                <a:spcPts val="900"/>
              </a:spcAft>
            </a:pPr>
            <a:r>
              <a:rPr sz="1500" b="1">
                <a:solidFill>
                  <a:srgbClr val="2EA6A0"/>
                </a:solidFill>
                <a:latin typeface="Calibri"/>
              </a:rPr>
              <a:t>•  </a:t>
            </a:r>
            <a:r>
              <a:rPr sz="1500" b="0">
                <a:solidFill>
                  <a:srgbClr val="1A1A1A"/>
                </a:solidFill>
                <a:latin typeface="Calibri"/>
              </a:rPr>
              <a:t>Why consensus matters — the 2023 “U-turn”: by magnitude it is a huge +650 bp hawkish shock. But the survey expected 17.6% and the bank delivered 15% — a −256 bp DOVISH surprise. Without consensus data, even the SIGN of the surprise is wrong.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0"/>
            <a:ext cx="109728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1F7A6E"/>
                </a:solidFill>
                <a:latin typeface="Calibri"/>
              </a:rPr>
              <a:t>+0.017 Sharpe (honest)</a:t>
            </a:r>
          </a:p>
          <a:p>
            <a:pPr algn="ctr">
              <a:spcAft>
                <a:spcPts val="600"/>
              </a:spcAft>
            </a:pPr>
            <a:r>
              <a:rPr sz="1400" b="0">
                <a:solidFill>
                  <a:srgbClr val="555555"/>
                </a:solidFill>
                <a:latin typeface="Calibri"/>
              </a:rPr>
              <a:t>Rigor shrinks the number but makes it real — benefit is mostly in drawdown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A1A1A"/>
                </a:solidFill>
                <a:latin typeface="Calibri"/>
              </a:rPr>
              <a:t>Idea 2 — Real (CPI-Adjusted) Pair Formation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78992"/>
            <a:ext cx="1371600" cy="50800"/>
          </a:xfrm>
          <a:prstGeom prst="rect">
            <a:avLst/>
          </a:prstGeom>
          <a:solidFill>
            <a:srgbClr val="2EA6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dea2_overl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4480"/>
            <a:ext cx="6492240" cy="236081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178040" y="1371600"/>
            <a:ext cx="461772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400" b="1">
                <a:solidFill>
                  <a:srgbClr val="1F7A6E"/>
                </a:solidFill>
                <a:latin typeface="Calibri"/>
              </a:rPr>
              <a:t>Hypothesis</a:t>
            </a:r>
          </a:p>
          <a:p>
            <a:pPr algn="l">
              <a:spcAft>
                <a:spcPts val="900"/>
              </a:spcAft>
            </a:pPr>
            <a:r>
              <a:rPr sz="1200" b="1">
                <a:solidFill>
                  <a:srgbClr val="2EA6A0"/>
                </a:solidFill>
                <a:latin typeface="Calibri"/>
              </a:rPr>
              <a:t>•  </a:t>
            </a:r>
            <a:r>
              <a:rPr sz="1200" b="0">
                <a:solidFill>
                  <a:srgbClr val="1A1A1A"/>
                </a:solidFill>
                <a:latin typeface="Calibri"/>
              </a:rPr>
              <a:t>On BIST, chronic inflation lifts every TRY price series, so two stocks can look tightly co-moving just because inflation pushed both up — a ‘phantom’ pair with no real economic link.</a:t>
            </a:r>
          </a:p>
          <a:p>
            <a:pPr algn="l">
              <a:spcAft>
                <a:spcPts val="900"/>
              </a:spcAft>
            </a:pPr>
            <a:r>
              <a:rPr sz="1200" b="1">
                <a:solidFill>
                  <a:srgbClr val="2EA6A0"/>
                </a:solidFill>
                <a:latin typeface="Calibri"/>
              </a:rPr>
              <a:t>•  </a:t>
            </a:r>
            <a:r>
              <a:rPr sz="1200" b="0">
                <a:solidFill>
                  <a:srgbClr val="1A1A1A"/>
                </a:solidFill>
                <a:latin typeface="Calibri"/>
              </a:rPr>
              <a:t>Idea: deflate every price by CPI before ranking, so the SSD captures real (purchasing-power) co-movement instead of a shared inflation trend.</a:t>
            </a:r>
          </a:p>
          <a:p>
            <a:pPr algn="l">
              <a:spcAft>
                <a:spcPts val="900"/>
              </a:spcAft>
            </a:pPr>
            <a:r>
              <a:rPr sz="1200" b="1">
                <a:solidFill>
                  <a:srgbClr val="2EA6A0"/>
                </a:solidFill>
                <a:latin typeface="Calibri"/>
              </a:rPr>
              <a:t>•  </a:t>
            </a:r>
            <a:r>
              <a:rPr sz="1200" b="0">
                <a:solidFill>
                  <a:srgbClr val="1A1A1A"/>
                </a:solidFill>
                <a:latin typeface="Calibri"/>
              </a:rPr>
              <a:t>Math finding: CPI is the SAME for all stocks, so it factors out of the spread as one time factor — deflation only TIME-WEIGHTS the SSD (down-weighting recent, high-CPI days). A common factor cannot remove a trend from a difference.</a:t>
            </a:r>
          </a:p>
          <a:p>
            <a:pPr algn="l">
              <a:spcAft>
                <a:spcPts val="900"/>
              </a:spcAft>
            </a:pPr>
            <a:r>
              <a:rPr sz="1200" b="1">
                <a:solidFill>
                  <a:srgbClr val="2EA6A0"/>
                </a:solidFill>
                <a:latin typeface="Calibri"/>
              </a:rPr>
              <a:t>•  </a:t>
            </a:r>
            <a:r>
              <a:rPr sz="1200" b="0">
                <a:solidFill>
                  <a:srgbClr val="1A1A1A"/>
                </a:solidFill>
                <a:latin typeface="Calibri"/>
              </a:rPr>
              <a:t>Result: overlap with the nominal selection drops in high-inflation years (77% in 2022), so it does re-rank pairs — but they perform worse: Sharpe −0.39 → −0.43.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78040" y="5440680"/>
            <a:ext cx="46177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C0392B"/>
                </a:solidFill>
                <a:latin typeface="Calibri"/>
              </a:rPr>
              <a:t>Negative result</a:t>
            </a:r>
          </a:p>
          <a:p>
            <a:pPr algn="ctr">
              <a:spcAft>
                <a:spcPts val="600"/>
              </a:spcAft>
            </a:pPr>
            <a:r>
              <a:rPr sz="1400" b="0">
                <a:solidFill>
                  <a:srgbClr val="555555"/>
                </a:solidFill>
                <a:latin typeface="Calibri"/>
              </a:rPr>
              <a:t>…but we proved WHY, mathematically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A1A1A"/>
                </a:solidFill>
                <a:latin typeface="Calibri"/>
              </a:rPr>
              <a:t>Idea 5 — 3σ Stop-Loss  (the winner)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78992"/>
            <a:ext cx="1371600" cy="50800"/>
          </a:xfrm>
          <a:prstGeom prst="rect">
            <a:avLst/>
          </a:prstGeom>
          <a:solidFill>
            <a:srgbClr val="2EA6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dea5_equ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6492240" cy="295101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178040" y="1325880"/>
            <a:ext cx="461772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450" b="1">
                <a:solidFill>
                  <a:srgbClr val="1F7A6E"/>
                </a:solidFill>
                <a:latin typeface="Calibri"/>
              </a:rPr>
              <a:t>Concept</a:t>
            </a:r>
          </a:p>
          <a:p>
            <a:pPr algn="l">
              <a:spcAft>
                <a:spcPts val="900"/>
              </a:spcAft>
            </a:pPr>
            <a:r>
              <a:rPr sz="1250" b="1">
                <a:solidFill>
                  <a:srgbClr val="2EA6A0"/>
                </a:solidFill>
                <a:latin typeface="Calibri"/>
              </a:rPr>
              <a:t>•  </a:t>
            </a:r>
            <a:r>
              <a:rPr sz="1250" b="0">
                <a:solidFill>
                  <a:srgbClr val="1A1A1A"/>
                </a:solidFill>
                <a:latin typeface="Calibri"/>
              </a:rPr>
              <a:t>GGR never stops out: a trade runs until the spread crosses zero or the 6-month window ends. A pair that blows out to 5-10σ bleeds for months.</a:t>
            </a:r>
          </a:p>
          <a:p>
            <a:pPr algn="l">
              <a:spcAft>
                <a:spcPts val="900"/>
              </a:spcAft>
            </a:pPr>
            <a:r>
              <a:rPr sz="1250" b="1">
                <a:solidFill>
                  <a:srgbClr val="2EA6A0"/>
                </a:solidFill>
                <a:latin typeface="Calibri"/>
              </a:rPr>
              <a:t>•  </a:t>
            </a:r>
            <a:r>
              <a:rPr sz="1250" b="0">
                <a:solidFill>
                  <a:srgbClr val="1A1A1A"/>
                </a:solidFill>
                <a:latin typeface="Calibri"/>
              </a:rPr>
              <a:t>Do &amp; Faff (2010): a pair that reaches 3σ is usually structurally broken (merger, shock), not a temporary mispricing.</a:t>
            </a:r>
          </a:p>
          <a:p>
            <a:pPr algn="l">
              <a:spcAft>
                <a:spcPts val="900"/>
              </a:spcAft>
            </a:pPr>
            <a:r>
              <a:rPr sz="1250" b="1">
                <a:solidFill>
                  <a:srgbClr val="2EA6A0"/>
                </a:solidFill>
                <a:latin typeface="Calibri"/>
              </a:rPr>
              <a:t>•  </a:t>
            </a:r>
            <a:r>
              <a:rPr sz="1250" b="0">
                <a:solidFill>
                  <a:srgbClr val="1A1A1A"/>
                </a:solidFill>
                <a:latin typeface="Calibri"/>
              </a:rPr>
              <a:t>One rule added: close at 3σ for a loss AND stop re-trading that broken pair — otherwise it re-enters every bar while still beyond 3σ.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78040" y="4160520"/>
            <a:ext cx="4617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7A6E"/>
                </a:solidFill>
                <a:latin typeface="Calibri"/>
              </a:rPr>
              <a:t>Stop-threshold sensitivity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1A1A1A"/>
                </a:solidFill>
                <a:latin typeface="Calibri"/>
              </a:rPr>
              <a:t>2.5σ  −0.07   |   3.0σ  −0.11   |   </a:t>
            </a:r>
            <a:r>
              <a:rPr sz="1250" b="1">
                <a:solidFill>
                  <a:srgbClr val="1F7A6E"/>
                </a:solidFill>
                <a:latin typeface="Calibri"/>
              </a:rPr>
              <a:t>3.5σ  +0.15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78040" y="5029200"/>
            <a:ext cx="46177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1F7A6E"/>
                </a:solidFill>
                <a:latin typeface="Calibri"/>
              </a:rPr>
              <a:t>Max DD  69% → 10%</a:t>
            </a:r>
          </a:p>
          <a:p>
            <a:pPr algn="ctr">
              <a:spcAft>
                <a:spcPts val="600"/>
              </a:spcAft>
            </a:pPr>
            <a:r>
              <a:rPr sz="1400" b="0">
                <a:solidFill>
                  <a:srgbClr val="555555"/>
                </a:solidFill>
                <a:latin typeface="Calibri"/>
              </a:rPr>
              <a:t>3.5σ turns Sharpe POSITIVE (+0.15)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A1A1A"/>
                </a:solidFill>
                <a:latin typeface="Calibri"/>
              </a:rPr>
              <a:t>Idea 3 — Cross-Listing Arb (TCELL.IS vs TKC)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78992"/>
            <a:ext cx="1371600" cy="50800"/>
          </a:xfrm>
          <a:prstGeom prst="rect">
            <a:avLst/>
          </a:prstGeom>
          <a:solidFill>
            <a:srgbClr val="2EA6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dea3_equ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08760"/>
            <a:ext cx="6492240" cy="295101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178040" y="1325880"/>
            <a:ext cx="461772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400" b="1">
                <a:solidFill>
                  <a:srgbClr val="1F7A6E"/>
                </a:solidFill>
                <a:latin typeface="Calibri"/>
              </a:rPr>
              <a:t>Concept</a:t>
            </a:r>
          </a:p>
          <a:p>
            <a:pPr algn="l">
              <a:spcAft>
                <a:spcPts val="900"/>
              </a:spcAft>
            </a:pPr>
            <a:r>
              <a:rPr sz="1200" b="1">
                <a:solidFill>
                  <a:srgbClr val="2EA6A0"/>
                </a:solidFill>
                <a:latin typeface="Calibri"/>
              </a:rPr>
              <a:t>•  </a:t>
            </a:r>
            <a:r>
              <a:rPr sz="1200" b="0">
                <a:solidFill>
                  <a:srgbClr val="1A1A1A"/>
                </a:solidFill>
                <a:latin typeface="Calibri"/>
              </a:rPr>
              <a:t>Same company, two markets: BIST TCELL.IS (TRY) and its NYSE ADR TKC (USD), linked by USD/TRY. Parity: ADR = TCELL × ratio / USDTRY; the empirical ratio 2.445 ≈ the documented 2.5, which validates the data.</a:t>
            </a:r>
          </a:p>
          <a:p>
            <a:pPr algn="l">
              <a:spcAft>
                <a:spcPts val="900"/>
              </a:spcAft>
            </a:pPr>
            <a:r>
              <a:rPr sz="1200" b="1">
                <a:solidFill>
                  <a:srgbClr val="2EA6A0"/>
                </a:solidFill>
                <a:latin typeface="Calibri"/>
              </a:rPr>
              <a:t>•  </a:t>
            </a:r>
            <a:r>
              <a:rPr sz="1200" b="0">
                <a:solidFill>
                  <a:srgbClr val="1A1A1A"/>
                </a:solidFill>
                <a:latin typeface="Calibri"/>
              </a:rPr>
              <a:t>Trap: a naive same-date backtest looks spectacular — Sharpe 3.7, 99% win, six-figure return. That is a TIMEZONE artifact: BIST closes ~5h before NYSE, so a same-date ‘gap’ is partly a stale BIST quote that ‘reverts’ the next day.</a:t>
            </a:r>
          </a:p>
          <a:p>
            <a:pPr algn="l">
              <a:spcAft>
                <a:spcPts val="900"/>
              </a:spcAft>
            </a:pPr>
            <a:r>
              <a:rPr sz="1200" b="1">
                <a:solidFill>
                  <a:srgbClr val="2EA6A0"/>
                </a:solidFill>
                <a:latin typeface="Calibri"/>
              </a:rPr>
              <a:t>•  </a:t>
            </a:r>
            <a:r>
              <a:rPr sz="1200" b="0">
                <a:solidFill>
                  <a:srgbClr val="1A1A1A"/>
                </a:solidFill>
                <a:latin typeface="Calibri"/>
              </a:rPr>
              <a:t>Fix: execute on the next bar — you cannot trade at the stale close. The edge collapses; only wide (≥2%) thresholds leave a weak Sharpe ~0.3 with large FX-driven drawdowns.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78040" y="5212080"/>
            <a:ext cx="46177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B8860B"/>
                </a:solidFill>
                <a:latin typeface="Calibri"/>
              </a:rPr>
              <a:t>Naive ≠ real</a:t>
            </a:r>
          </a:p>
          <a:p>
            <a:pPr algn="ctr">
              <a:spcAft>
                <a:spcPts val="600"/>
              </a:spcAft>
            </a:pPr>
            <a:r>
              <a:rPr sz="1400" b="0">
                <a:solidFill>
                  <a:srgbClr val="555555"/>
                </a:solidFill>
                <a:latin typeface="Calibri"/>
              </a:rPr>
              <a:t>A naive backtest lies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FFFFFF"/>
                </a:solidFill>
                <a:latin typeface="Calibri"/>
              </a:rPr>
              <a:t>What We Learned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80160"/>
            <a:ext cx="1463040" cy="50800"/>
          </a:xfrm>
          <a:prstGeom prst="rect">
            <a:avLst/>
          </a:prstGeom>
          <a:solidFill>
            <a:srgbClr val="2EA6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7280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600"/>
              </a:spcAft>
            </a:pPr>
            <a:r>
              <a:rPr sz="2000" b="1">
                <a:solidFill>
                  <a:srgbClr val="2EA6A0"/>
                </a:solidFill>
                <a:latin typeface="Calibri"/>
              </a:rPr>
              <a:t>✓  </a:t>
            </a:r>
            <a:r>
              <a:rPr sz="1800" b="0">
                <a:solidFill>
                  <a:srgbClr val="FFFFFF"/>
                </a:solidFill>
                <a:latin typeface="Calibri"/>
              </a:rPr>
              <a:t>Idea 1 (shock filter) and Idea 5 (3σ stop) genuinely improve the strategy — the 3σ stop is the standout, cutting max drawdown from 69% to 10%.</a:t>
            </a:r>
          </a:p>
          <a:p>
            <a:pPr algn="l">
              <a:spcAft>
                <a:spcPts val="1600"/>
              </a:spcAft>
            </a:pPr>
            <a:r>
              <a:rPr sz="2000" b="1">
                <a:solidFill>
                  <a:srgbClr val="C0392B"/>
                </a:solidFill>
                <a:latin typeface="Calibri"/>
              </a:rPr>
              <a:t>✗  </a:t>
            </a:r>
            <a:r>
              <a:rPr sz="1800" b="0">
                <a:solidFill>
                  <a:srgbClr val="FFFFFF"/>
                </a:solidFill>
                <a:latin typeface="Calibri"/>
              </a:rPr>
              <a:t>Idea 2 (real prices) fails — and we proved mathematically why: CPI deflation only re-weights the SSD in time, it cannot remove a shared inflation trend.</a:t>
            </a:r>
          </a:p>
          <a:p>
            <a:pPr algn="l">
              <a:spcAft>
                <a:spcPts val="1600"/>
              </a:spcAft>
            </a:pPr>
            <a:r>
              <a:rPr sz="2000" b="1">
                <a:solidFill>
                  <a:srgbClr val="E6B82E"/>
                </a:solidFill>
                <a:latin typeface="Calibri"/>
              </a:rPr>
              <a:t>⚠  </a:t>
            </a:r>
            <a:r>
              <a:rPr sz="1800" b="0">
                <a:solidFill>
                  <a:srgbClr val="FFFFFF"/>
                </a:solidFill>
                <a:latin typeface="Calibri"/>
              </a:rPr>
              <a:t>Idea 3 (cross-listing) is a cautionary tale: a naive same-date backtest manufactures a fake edge from non-synchronous closes.</a:t>
            </a:r>
          </a:p>
          <a:p>
            <a:pPr algn="l">
              <a:spcAft>
                <a:spcPts val="1600"/>
              </a:spcAft>
            </a:pPr>
            <a:r>
              <a:rPr sz="2000" b="1">
                <a:solidFill>
                  <a:srgbClr val="2EA6A0"/>
                </a:solidFill>
                <a:latin typeface="Calibri"/>
              </a:rPr>
              <a:t>→  </a:t>
            </a:r>
            <a:r>
              <a:rPr sz="1800" b="1">
                <a:solidFill>
                  <a:srgbClr val="FFFFFF"/>
                </a:solidFill>
                <a:latin typeface="Calibri"/>
              </a:rPr>
              <a:t>Honest research means reporting the failures and understanding them. Because our engine is bit-identical to the baseline, every delta is real.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A1A1A"/>
                </a:solidFill>
                <a:latin typeface="Calibri"/>
              </a:rPr>
              <a:t>Data Limitations (and how we worked around them)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78992"/>
            <a:ext cx="1371600" cy="50800"/>
          </a:xfrm>
          <a:prstGeom prst="rect">
            <a:avLst/>
          </a:prstGeom>
          <a:solidFill>
            <a:srgbClr val="2EA6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600" b="1">
                <a:solidFill>
                  <a:srgbClr val="2EA6A0"/>
                </a:solidFill>
                <a:latin typeface="Calibri"/>
              </a:rPr>
              <a:t>•  </a:t>
            </a:r>
            <a:r>
              <a:rPr sz="1600" b="0">
                <a:solidFill>
                  <a:srgbClr val="1A1A1A"/>
                </a:solidFill>
                <a:latin typeface="Calibri"/>
              </a:rPr>
              <a:t>Survivorship bias: Yahoo Finance only serves surviving tickers. We manually added delisted names (ROYAL, YGYO, …) from IsYatirim spreadsheets.</a:t>
            </a:r>
          </a:p>
          <a:p>
            <a:pPr algn="l">
              <a:spcAft>
                <a:spcPts val="900"/>
              </a:spcAft>
            </a:pPr>
            <a:r>
              <a:rPr sz="1600" b="1">
                <a:solidFill>
                  <a:srgbClr val="2EA6A0"/>
                </a:solidFill>
                <a:latin typeface="Calibri"/>
              </a:rPr>
              <a:t>•  </a:t>
            </a:r>
            <a:r>
              <a:rPr sz="1600" b="0">
                <a:solidFill>
                  <a:srgbClr val="1A1A1A"/>
                </a:solidFill>
                <a:latin typeface="Calibri"/>
              </a:rPr>
              <a:t>No bid-ask on BIST: we cannot measure the real spread, so we approximate trading cost two ways — a one-day execution delay (paper’s Panel B) and an explicit per-trade commission (0/5/10/20 bps).</a:t>
            </a:r>
          </a:p>
          <a:p>
            <a:pPr algn="l">
              <a:spcAft>
                <a:spcPts val="900"/>
              </a:spcAft>
            </a:pPr>
            <a:r>
              <a:rPr sz="1600" b="1">
                <a:solidFill>
                  <a:srgbClr val="2EA6A0"/>
                </a:solidFill>
                <a:latin typeface="Calibri"/>
              </a:rPr>
              <a:t>•  </a:t>
            </a:r>
            <a:r>
              <a:rPr sz="1600" b="0">
                <a:solidFill>
                  <a:srgbClr val="1A1A1A"/>
                </a:solidFill>
                <a:latin typeface="Calibri"/>
              </a:rPr>
              <a:t>No professional terminal: without Bloomberg/Refinitiv we could not get clean intraday or full point-in-time data — which is exactly why Idea 3 cannot be settled on daily closes.</a:t>
            </a:r>
          </a:p>
          <a:p>
            <a:pPr algn="l">
              <a:spcAft>
                <a:spcPts val="900"/>
              </a:spcAft>
            </a:pPr>
            <a:r>
              <a:rPr sz="1600" b="1">
                <a:solidFill>
                  <a:srgbClr val="2EA6A0"/>
                </a:solidFill>
                <a:latin typeface="Calibri"/>
              </a:rPr>
              <a:t>•  </a:t>
            </a:r>
            <a:r>
              <a:rPr sz="1600" b="0">
                <a:solidFill>
                  <a:srgbClr val="1A1A1A"/>
                </a:solidFill>
                <a:latin typeface="Calibri"/>
              </a:rPr>
              <a:t>Implication: results are directionally trustworthy but not execution-ready; a real deployment needs clean, point-in-time, intraday data.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